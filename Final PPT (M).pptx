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6" r:id="rId1"/>
  </p:sldMasterIdLst>
  <p:sldIdLst>
    <p:sldId id="256" r:id="rId2"/>
    <p:sldId id="257" r:id="rId3"/>
    <p:sldId id="258" r:id="rId4"/>
    <p:sldId id="259" r:id="rId5"/>
    <p:sldId id="260" r:id="rId6"/>
    <p:sldId id="261" r:id="rId7"/>
    <p:sldId id="274" r:id="rId8"/>
    <p:sldId id="265" r:id="rId9"/>
    <p:sldId id="269" r:id="rId10"/>
    <p:sldId id="275" r:id="rId11"/>
    <p:sldId id="283" r:id="rId12"/>
    <p:sldId id="284" r:id="rId13"/>
    <p:sldId id="285" r:id="rId14"/>
    <p:sldId id="286" r:id="rId15"/>
    <p:sldId id="266" r:id="rId16"/>
    <p:sldId id="267" r:id="rId17"/>
    <p:sldId id="282" r:id="rId18"/>
    <p:sldId id="268" r:id="rId19"/>
    <p:sldId id="287" r:id="rId20"/>
    <p:sldId id="288" r:id="rId21"/>
    <p:sldId id="289" r:id="rId22"/>
    <p:sldId id="290" r:id="rId23"/>
    <p:sldId id="292" r:id="rId24"/>
    <p:sldId id="293" r:id="rId25"/>
    <p:sldId id="294" r:id="rId26"/>
    <p:sldId id="295" r:id="rId27"/>
    <p:sldId id="296" r:id="rId28"/>
    <p:sldId id="297" r:id="rId29"/>
    <p:sldId id="270" r:id="rId30"/>
    <p:sldId id="27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3739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9202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7464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69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4/1/2025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619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4/1/2025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503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4/1/2025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3296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7948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6184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185208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74585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009161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73317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03008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4/1/2025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93778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4967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4/1/2025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283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9B482E8-6E0E-1B4F-B1FD-C69DB9E858D9}" type="datetimeFigureOut">
              <a:rPr lang="en-US" smtClean="0"/>
              <a:pPr/>
              <a:t>4/1/2025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9344419"/>
      </p:ext>
    </p:extLst>
  </p:cSld>
  <p:clrMap bg1="dk1" tx1="lt1" bg2="dk2" tx2="lt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97656"/>
            <a:ext cx="11739563" cy="2962005"/>
          </a:xfrm>
        </p:spPr>
        <p:txBody>
          <a:bodyPr>
            <a:normAutofit fontScale="90000"/>
          </a:bodyPr>
          <a:lstStyle/>
          <a:p>
            <a:r>
              <a:rPr lang="en-IN" b="1" u="sng" dirty="0">
                <a:effectLst/>
              </a:rPr>
              <a:t>ENCRYPTING CREDIT CARD FRAUD </a:t>
            </a:r>
            <a:r>
              <a:rPr lang="en-US" b="1" u="sng" dirty="0">
                <a:effectLst/>
              </a:rPr>
              <a:t> AND CUSTOMER ACTIVATION </a:t>
            </a:r>
            <a:r>
              <a:rPr lang="en-IN" b="1" u="sng" dirty="0">
                <a:effectLst/>
              </a:rPr>
              <a:t>PREDICTION</a:t>
            </a:r>
            <a:r>
              <a:rPr lang="en-US" b="1" u="sng" dirty="0">
                <a:effectLst/>
              </a:rPr>
              <a:t> WITH </a:t>
            </a:r>
            <a:r>
              <a:rPr lang="en-IN" b="1" u="sng" dirty="0">
                <a:effectLst/>
              </a:rPr>
              <a:t>MACHINE LEARNING </a:t>
            </a:r>
            <a:endParaRPr lang="en-AU" dirty="0">
              <a:effectLst/>
            </a:endParaRPr>
          </a:p>
        </p:txBody>
      </p:sp>
      <p:sp>
        <p:nvSpPr>
          <p:cNvPr id="3" name="Subtitle 2">
            <a:extLst>
              <a:ext uri="{FF2B5EF4-FFF2-40B4-BE49-F238E27FC236}">
                <a16:creationId xmlns:a16="http://schemas.microsoft.com/office/drawing/2014/main" id="{8023B1D7-03CA-473A-68A7-A63F618F3A5E}"/>
              </a:ext>
            </a:extLst>
          </p:cNvPr>
          <p:cNvSpPr>
            <a:spLocks noGrp="1"/>
          </p:cNvSpPr>
          <p:nvPr>
            <p:ph type="subTitle" idx="1"/>
          </p:nvPr>
        </p:nvSpPr>
        <p:spPr>
          <a:xfrm>
            <a:off x="1370693" y="3598340"/>
            <a:ext cx="9440034" cy="2962003"/>
          </a:xfrm>
        </p:spPr>
        <p:txBody>
          <a:bodyPr>
            <a:normAutofit fontScale="85000" lnSpcReduction="20000"/>
          </a:bodyPr>
          <a:lstStyle/>
          <a:p>
            <a:r>
              <a:rPr lang="en-US" sz="2900" dirty="0"/>
              <a:t>Under the Guidance for </a:t>
            </a:r>
          </a:p>
          <a:p>
            <a:r>
              <a:rPr lang="en-US" sz="2900" dirty="0"/>
              <a:t>Dr.R. THIRUMALAI SELVI M.Ss., M.phil., PhD.</a:t>
            </a:r>
          </a:p>
          <a:p>
            <a:endParaRPr lang="en-US" sz="2900" dirty="0"/>
          </a:p>
          <a:p>
            <a:r>
              <a:rPr lang="en-US" sz="2400" dirty="0"/>
              <a:t>                                                                                                   Presented By</a:t>
            </a:r>
          </a:p>
          <a:p>
            <a:r>
              <a:rPr lang="en-US" sz="2400" dirty="0"/>
              <a:t>                                                                                                  JAYAKANTHAN.A</a:t>
            </a:r>
          </a:p>
          <a:p>
            <a:r>
              <a:rPr lang="en-US" sz="2400" dirty="0"/>
              <a:t>                                                                                                2313112078010</a:t>
            </a:r>
          </a:p>
          <a:p>
            <a:r>
              <a:rPr lang="en-US" sz="2400" dirty="0"/>
              <a:t>                                                                                                M.Sc. Computer Science </a:t>
            </a:r>
          </a:p>
        </p:txBody>
      </p:sp>
    </p:spTree>
    <p:extLst>
      <p:ext uri="{BB962C8B-B14F-4D97-AF65-F5344CB8AC3E}">
        <p14:creationId xmlns:p14="http://schemas.microsoft.com/office/powerpoint/2010/main" val="24940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60" y="679127"/>
            <a:ext cx="10058400" cy="798491"/>
          </a:xfrm>
        </p:spPr>
        <p:txBody>
          <a:bodyPr/>
          <a:lstStyle/>
          <a:p>
            <a:r>
              <a:rPr lang="en-IN" dirty="0"/>
              <a:t>Abstract</a:t>
            </a:r>
            <a:endParaRPr lang="en-AU" dirty="0"/>
          </a:p>
        </p:txBody>
      </p:sp>
      <p:sp>
        <p:nvSpPr>
          <p:cNvPr id="3" name="Content Placeholder 2"/>
          <p:cNvSpPr>
            <a:spLocks noGrp="1"/>
          </p:cNvSpPr>
          <p:nvPr>
            <p:ph idx="1"/>
          </p:nvPr>
        </p:nvSpPr>
        <p:spPr>
          <a:xfrm>
            <a:off x="296428" y="1646256"/>
            <a:ext cx="11196614" cy="4794738"/>
          </a:xfrm>
        </p:spPr>
        <p:txBody>
          <a:bodyPr>
            <a:normAutofit/>
          </a:bodyPr>
          <a:lstStyle/>
          <a:p>
            <a:pPr algn="just"/>
            <a:r>
              <a:rPr lang="en-IN" dirty="0">
                <a:effectLst/>
              </a:rPr>
              <a:t> </a:t>
            </a:r>
            <a:r>
              <a:rPr lang="en-IN" dirty="0">
                <a:effectLst/>
                <a:latin typeface="Times New Roman" panose="02020603050405020304" pitchFamily="18" charset="0"/>
                <a:cs typeface="Times New Roman" panose="02020603050405020304" pitchFamily="18" charset="0"/>
              </a:rPr>
              <a:t>In the modern financial ecosystem, ensuring the security of credit card transactions and enhancing customer activation strategies are paramount. This paper explores the application of machine learning techniques to predict credit card fraud and customer activation, with a focus on incorporating encryption methodologies to safeguard sensitive data.</a:t>
            </a:r>
            <a:endParaRPr lang="en-US" dirty="0">
              <a:effectLst/>
              <a:latin typeface="Times New Roman" panose="02020603050405020304" pitchFamily="18" charset="0"/>
              <a:cs typeface="Times New Roman" panose="02020603050405020304" pitchFamily="18" charset="0"/>
            </a:endParaRPr>
          </a:p>
          <a:p>
            <a:pPr algn="just"/>
            <a:r>
              <a:rPr lang="en-IN" dirty="0">
                <a:effectLst/>
                <a:latin typeface="Times New Roman" panose="02020603050405020304" pitchFamily="18" charset="0"/>
                <a:cs typeface="Times New Roman" panose="02020603050405020304" pitchFamily="18" charset="0"/>
              </a:rPr>
              <a:t> By leveraging advanced algorithms, our models achieve high accuracy in identifying fraudulent activities and predicting customer engagement. The integration of these predictive models within the Django framework facilitates a robust and scalable web application, ensuring seamless deployment and user accessibility.</a:t>
            </a:r>
            <a:endParaRPr lang="en-US" dirty="0">
              <a:effectLst/>
              <a:latin typeface="Times New Roman" panose="02020603050405020304" pitchFamily="18" charset="0"/>
              <a:cs typeface="Times New Roman" panose="02020603050405020304" pitchFamily="18" charset="0"/>
            </a:endParaRPr>
          </a:p>
          <a:p>
            <a:pPr algn="just"/>
            <a:r>
              <a:rPr lang="en-IN" dirty="0">
                <a:effectLst/>
                <a:latin typeface="Times New Roman" panose="02020603050405020304" pitchFamily="18" charset="0"/>
                <a:cs typeface="Times New Roman" panose="02020603050405020304" pitchFamily="18" charset="0"/>
              </a:rPr>
              <a:t> This approach not only enhances data security through encryption but also empowers financial institutions with actionable insights, promoting both fraud prevention and customer retention.</a:t>
            </a:r>
            <a:endParaRPr lang="en-AU" dirty="0">
              <a:effectLst/>
              <a:latin typeface="Times New Roman" panose="02020603050405020304" pitchFamily="18" charset="0"/>
              <a:cs typeface="Times New Roman" panose="02020603050405020304" pitchFamily="18" charset="0"/>
            </a:endParaRPr>
          </a:p>
          <a:p>
            <a:pPr algn="just"/>
            <a:r>
              <a:rPr lang="en-US" b="1" dirty="0">
                <a:effectLst/>
                <a:latin typeface="Times New Roman" panose="02020603050405020304" pitchFamily="18" charset="0"/>
                <a:cs typeface="Times New Roman" panose="02020603050405020304" pitchFamily="18" charset="0"/>
              </a:rPr>
              <a:t>Keywords:</a:t>
            </a:r>
            <a:r>
              <a:rPr lang="en-US" dirty="0">
                <a:effectLst/>
                <a:latin typeface="Times New Roman" panose="02020603050405020304" pitchFamily="18" charset="0"/>
                <a:cs typeface="Times New Roman" panose="02020603050405020304" pitchFamily="18" charset="0"/>
              </a:rPr>
              <a:t> </a:t>
            </a:r>
            <a:r>
              <a:rPr lang="en-IN" dirty="0">
                <a:effectLst/>
                <a:latin typeface="Times New Roman" panose="02020603050405020304" pitchFamily="18" charset="0"/>
                <a:cs typeface="Times New Roman" panose="02020603050405020304" pitchFamily="18" charset="0"/>
              </a:rPr>
              <a:t>Credit Card Fraud Detection, Customer Activation Prediction, Machine Learning, Django Framework, Web Application Development</a:t>
            </a:r>
            <a:endParaRPr lang="en-AU"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90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074" y="577568"/>
            <a:ext cx="8596668" cy="772732"/>
          </a:xfrm>
        </p:spPr>
        <p:txBody>
          <a:bodyPr/>
          <a:lstStyle/>
          <a:p>
            <a:r>
              <a:rPr lang="en-IN" dirty="0"/>
              <a:t>Existing System</a:t>
            </a:r>
            <a:endParaRPr lang="en-AU" dirty="0"/>
          </a:p>
        </p:txBody>
      </p:sp>
      <p:sp>
        <p:nvSpPr>
          <p:cNvPr id="3" name="Content Placeholder 2"/>
          <p:cNvSpPr>
            <a:spLocks noGrp="1"/>
          </p:cNvSpPr>
          <p:nvPr>
            <p:ph idx="1"/>
          </p:nvPr>
        </p:nvSpPr>
        <p:spPr>
          <a:xfrm>
            <a:off x="647203" y="1774031"/>
            <a:ext cx="11333782" cy="5794455"/>
          </a:xfrm>
        </p:spPr>
        <p:txBody>
          <a:bodyPr>
            <a:noAutofit/>
          </a:bodyPr>
          <a:lstStyle/>
          <a:p>
            <a:pPr algn="just"/>
            <a:r>
              <a:rPr lang="en-IN" sz="1800" dirty="0">
                <a:effectLst/>
                <a:latin typeface="Times New Roman" panose="02020603050405020304" pitchFamily="18" charset="0"/>
                <a:cs typeface="Times New Roman" panose="02020603050405020304" pitchFamily="18" charset="0"/>
              </a:rPr>
              <a:t> With the flourishing of the credit card business and Internet technology, the risk of fraudulent credit card transactions is ever-increasing due to the complex information involved in the credit card business. Since the high redundancy of feature information and imbalance of class distribution in transaction data, the performance of the existing machine learning-based models for detecting credit card fraudulent transactions still needs to be improved.</a:t>
            </a:r>
            <a:endParaRPr lang="en-US" sz="1800" dirty="0">
              <a:effectLst/>
              <a:latin typeface="Times New Roman" panose="02020603050405020304" pitchFamily="18" charset="0"/>
              <a:cs typeface="Times New Roman" panose="02020603050405020304" pitchFamily="18" charset="0"/>
            </a:endParaRPr>
          </a:p>
          <a:p>
            <a:pPr algn="just"/>
            <a:r>
              <a:rPr lang="en-IN" sz="1800" dirty="0">
                <a:effectLst/>
                <a:latin typeface="Times New Roman" panose="02020603050405020304" pitchFamily="18" charset="0"/>
                <a:cs typeface="Times New Roman" panose="02020603050405020304" pitchFamily="18" charset="0"/>
              </a:rPr>
              <a:t> Therefore, it is crucial to build fraud detection models for effective feature engineering and sampling techniques. This article proposes a credit card fraud detection model incorporating a fraud feature-boosting mechanism with a spiral oversampling balancing technique (SOBT). Specifically, we present a compound grouping elimination strategy to exclude highly redundant and correlated features from the credit card transaction dataset and improve the data quality. </a:t>
            </a:r>
            <a:endParaRPr lang="en-US" sz="1800" dirty="0">
              <a:effectLst/>
              <a:latin typeface="Times New Roman" panose="02020603050405020304" pitchFamily="18" charset="0"/>
              <a:cs typeface="Times New Roman" panose="02020603050405020304" pitchFamily="18" charset="0"/>
            </a:endParaRPr>
          </a:p>
          <a:p>
            <a:pPr algn="just"/>
            <a:r>
              <a:rPr lang="en-IN" sz="1800" dirty="0">
                <a:effectLst/>
                <a:latin typeface="Times New Roman" panose="02020603050405020304" pitchFamily="18" charset="0"/>
                <a:cs typeface="Times New Roman" panose="02020603050405020304" pitchFamily="18" charset="0"/>
              </a:rPr>
              <a:t>Furthermore, we design a multifactor synchronous embedding mechanism, which combines the performance evaluation metrics of the embedding model for each feature and improves the decisionmaking ability of each feature for the target domain. Moreover, we propose an SOBT to balance the ratio of legitimate to fraudulent transactions, which improves the ability of the fraud detection model to distinguish legitimate from fraudulent transactions. Extensive experimental results based on two real-world datasets demonstrate that our methods can facilitate efficient credit card fraud detection and achieve better performance than state-of-the-art methods</a:t>
            </a:r>
            <a:endParaRPr lang="en-AU"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605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DEMERITS</a:t>
            </a:r>
            <a:endParaRPr lang="en-AU" dirty="0"/>
          </a:p>
        </p:txBody>
      </p:sp>
      <p:sp>
        <p:nvSpPr>
          <p:cNvPr id="3" name="Content Placeholder 2"/>
          <p:cNvSpPr>
            <a:spLocks noGrp="1"/>
          </p:cNvSpPr>
          <p:nvPr>
            <p:ph idx="1"/>
          </p:nvPr>
        </p:nvSpPr>
        <p:spPr/>
        <p:txBody>
          <a:bodyPr>
            <a:normAutofit/>
          </a:bodyPr>
          <a:lstStyle/>
          <a:p>
            <a:pPr lvl="0"/>
            <a:r>
              <a:rPr lang="en-IN" sz="3200" dirty="0">
                <a:effectLst/>
                <a:latin typeface="Times New Roman" panose="02020603050405020304" pitchFamily="18" charset="0"/>
                <a:cs typeface="Times New Roman" panose="02020603050405020304" pitchFamily="18" charset="0"/>
              </a:rPr>
              <a:t>Computational Complexity</a:t>
            </a:r>
            <a:endParaRPr lang="en-AU" sz="3200" dirty="0">
              <a:effectLst/>
              <a:latin typeface="Times New Roman" panose="02020603050405020304" pitchFamily="18" charset="0"/>
              <a:cs typeface="Times New Roman" panose="02020603050405020304" pitchFamily="18" charset="0"/>
            </a:endParaRPr>
          </a:p>
          <a:p>
            <a:pPr lvl="0"/>
            <a:r>
              <a:rPr lang="en-IN" sz="3200" b="1" dirty="0">
                <a:effectLst/>
                <a:latin typeface="Times New Roman" panose="02020603050405020304" pitchFamily="18" charset="0"/>
                <a:cs typeface="Times New Roman" panose="02020603050405020304" pitchFamily="18" charset="0"/>
              </a:rPr>
              <a:t>Overfitting Risk</a:t>
            </a:r>
            <a:endParaRPr lang="en-AU" sz="3200" dirty="0">
              <a:effectLst/>
              <a:latin typeface="Times New Roman" panose="02020603050405020304" pitchFamily="18" charset="0"/>
              <a:cs typeface="Times New Roman" panose="02020603050405020304" pitchFamily="18" charset="0"/>
            </a:endParaRPr>
          </a:p>
          <a:p>
            <a:pPr lvl="0"/>
            <a:r>
              <a:rPr lang="en-IN" sz="3200" dirty="0">
                <a:effectLst/>
                <a:latin typeface="Times New Roman" panose="02020603050405020304" pitchFamily="18" charset="0"/>
                <a:cs typeface="Times New Roman" panose="02020603050405020304" pitchFamily="18" charset="0"/>
              </a:rPr>
              <a:t>Complexity of Implementation</a:t>
            </a:r>
            <a:endParaRPr lang="en-AU" sz="3200" dirty="0">
              <a:effectLst/>
              <a:latin typeface="Times New Roman" panose="02020603050405020304" pitchFamily="18" charset="0"/>
              <a:cs typeface="Times New Roman" panose="02020603050405020304" pitchFamily="18" charset="0"/>
            </a:endParaRPr>
          </a:p>
          <a:p>
            <a:pPr lvl="0"/>
            <a:r>
              <a:rPr lang="en-IN" sz="3200" dirty="0">
                <a:effectLst/>
                <a:latin typeface="Times New Roman" panose="02020603050405020304" pitchFamily="18" charset="0"/>
                <a:cs typeface="Times New Roman" panose="02020603050405020304" pitchFamily="18" charset="0"/>
              </a:rPr>
              <a:t>Scalability Issues</a:t>
            </a:r>
            <a:endParaRPr lang="en-AU" sz="3200" dirty="0">
              <a:effectLst/>
              <a:latin typeface="Times New Roman" panose="02020603050405020304" pitchFamily="18" charset="0"/>
              <a:cs typeface="Times New Roman" panose="02020603050405020304" pitchFamily="18" charset="0"/>
            </a:endParaRPr>
          </a:p>
          <a:p>
            <a:pPr lvl="0"/>
            <a:r>
              <a:rPr lang="en-IN" sz="3200" dirty="0">
                <a:effectLst/>
                <a:latin typeface="Times New Roman" panose="02020603050405020304" pitchFamily="18" charset="0"/>
                <a:cs typeface="Times New Roman" panose="02020603050405020304" pitchFamily="18" charset="0"/>
              </a:rPr>
              <a:t>Imbalance Handling Limitations</a:t>
            </a:r>
            <a:endParaRPr lang="en-AU" sz="3200" dirty="0">
              <a:effectLst/>
              <a:latin typeface="Times New Roman" panose="02020603050405020304" pitchFamily="18" charset="0"/>
              <a:cs typeface="Times New Roman" panose="02020603050405020304" pitchFamily="18" charset="0"/>
            </a:endParaRPr>
          </a:p>
          <a:p>
            <a:pPr lvl="0"/>
            <a:r>
              <a:rPr lang="en-IN" sz="3200" dirty="0">
                <a:effectLst/>
                <a:latin typeface="Times New Roman" panose="02020603050405020304" pitchFamily="18" charset="0"/>
                <a:cs typeface="Times New Roman" panose="02020603050405020304" pitchFamily="18" charset="0"/>
              </a:rPr>
              <a:t>They are didn’t using web applications. </a:t>
            </a:r>
            <a:endParaRPr lang="en-AU" sz="32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15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1533"/>
            <a:ext cx="10058400" cy="1371600"/>
          </a:xfrm>
        </p:spPr>
        <p:txBody>
          <a:bodyPr/>
          <a:lstStyle/>
          <a:p>
            <a:r>
              <a:rPr lang="en-IN" dirty="0"/>
              <a:t>Proposed System</a:t>
            </a:r>
            <a:endParaRPr lang="en-AU" dirty="0"/>
          </a:p>
        </p:txBody>
      </p:sp>
      <p:sp>
        <p:nvSpPr>
          <p:cNvPr id="3" name="Content Placeholder 2"/>
          <p:cNvSpPr>
            <a:spLocks noGrp="1"/>
          </p:cNvSpPr>
          <p:nvPr>
            <p:ph idx="1"/>
          </p:nvPr>
        </p:nvSpPr>
        <p:spPr>
          <a:xfrm>
            <a:off x="876300" y="1643133"/>
            <a:ext cx="10638366" cy="4714875"/>
          </a:xfrm>
        </p:spPr>
        <p:txBody>
          <a:bodyPr>
            <a:noAutofit/>
          </a:bodyPr>
          <a:lstStyle/>
          <a:p>
            <a:pPr algn="just"/>
            <a:r>
              <a:rPr lang="en-IN" sz="1600" dirty="0">
                <a:effectLst/>
                <a:latin typeface="Times New Roman" panose="02020603050405020304" pitchFamily="18" charset="0"/>
                <a:cs typeface="Times New Roman" panose="02020603050405020304" pitchFamily="18" charset="0"/>
              </a:rPr>
              <a:t>The proposed system aims to enhance the security and accuracy of credit card fraud detection and customer activation predictions using machine learning models integrated within a Django framework. The system involves the development of robust predictive models trained on historical transaction and customer behavior data to identify potential fraud and predict customer activation. </a:t>
            </a:r>
            <a:endParaRPr lang="en-US" sz="1600" dirty="0">
              <a:effectLst/>
              <a:latin typeface="Times New Roman" panose="02020603050405020304" pitchFamily="18" charset="0"/>
              <a:cs typeface="Times New Roman" panose="02020603050405020304" pitchFamily="18" charset="0"/>
            </a:endParaRPr>
          </a:p>
          <a:p>
            <a:pPr algn="just"/>
            <a:r>
              <a:rPr lang="en-IN" sz="1600" dirty="0">
                <a:effectLst/>
                <a:latin typeface="Times New Roman" panose="02020603050405020304" pitchFamily="18" charset="0"/>
                <a:cs typeface="Times New Roman" panose="02020603050405020304" pitchFamily="18" charset="0"/>
              </a:rPr>
              <a:t>To ensure the confidentiality and integrity of the predictions, the system employs advanced encryption techniques. Sensitive data, including user inputs and model outputs, are encrypted using industry-standard cryptographic algorithms. The encrypted data is securely stored and transmitted, preventing unauthorized access and tampering. </a:t>
            </a:r>
            <a:endParaRPr lang="en-US" sz="1600" dirty="0">
              <a:effectLst/>
              <a:latin typeface="Times New Roman" panose="02020603050405020304" pitchFamily="18" charset="0"/>
              <a:cs typeface="Times New Roman" panose="02020603050405020304" pitchFamily="18" charset="0"/>
            </a:endParaRPr>
          </a:p>
          <a:p>
            <a:pPr algn="just"/>
            <a:r>
              <a:rPr lang="en-IN" sz="1600" dirty="0">
                <a:effectLst/>
                <a:latin typeface="Times New Roman" panose="02020603050405020304" pitchFamily="18" charset="0"/>
                <a:cs typeface="Times New Roman" panose="02020603050405020304" pitchFamily="18" charset="0"/>
              </a:rPr>
              <a:t>The Django framework serves as the backbone of the system, providing a scalable and flexible environment for deploying and managing the machine learning models. It facilitates seamless integration with databases, handling of user authentication, and implementation of security protocols. By leveraging Django's robust features, the system ensures efficient processing, real-time predictions, and secure communication channels between different components.</a:t>
            </a:r>
            <a:endParaRPr lang="en-AU" sz="1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034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a:t>
            </a:r>
            <a:endParaRPr lang="en-AU" dirty="0"/>
          </a:p>
        </p:txBody>
      </p:sp>
      <p:sp>
        <p:nvSpPr>
          <p:cNvPr id="3" name="Content Placeholder 2"/>
          <p:cNvSpPr>
            <a:spLocks noGrp="1"/>
          </p:cNvSpPr>
          <p:nvPr>
            <p:ph idx="1"/>
          </p:nvPr>
        </p:nvSpPr>
        <p:spPr/>
        <p:txBody>
          <a:bodyPr>
            <a:normAutofit/>
          </a:bodyPr>
          <a:lstStyle/>
          <a:p>
            <a:pPr lvl="0"/>
            <a:r>
              <a:rPr lang="en-IN" sz="2400" dirty="0">
                <a:effectLst/>
              </a:rPr>
              <a:t>We build a framework based application for deployment purpose.</a:t>
            </a:r>
            <a:endParaRPr lang="en-AU" sz="2400" dirty="0">
              <a:effectLst/>
            </a:endParaRPr>
          </a:p>
          <a:p>
            <a:pPr lvl="0"/>
            <a:r>
              <a:rPr lang="en-IN" sz="2400" dirty="0">
                <a:effectLst/>
              </a:rPr>
              <a:t>We implemented balancing in the dataset in our project</a:t>
            </a:r>
            <a:endParaRPr lang="en-AU" sz="2400" dirty="0">
              <a:effectLst/>
            </a:endParaRPr>
          </a:p>
          <a:p>
            <a:pPr lvl="0"/>
            <a:r>
              <a:rPr lang="en-IN" sz="2400" dirty="0">
                <a:effectLst/>
              </a:rPr>
              <a:t>High scalability.</a:t>
            </a:r>
            <a:endParaRPr lang="en-AU" sz="2400" dirty="0">
              <a:effectLst/>
            </a:endParaRPr>
          </a:p>
          <a:p>
            <a:pPr lvl="0"/>
            <a:r>
              <a:rPr lang="en-IN" sz="2400" dirty="0">
                <a:effectLst/>
              </a:rPr>
              <a:t>We are implemented compare the algorithms.</a:t>
            </a:r>
            <a:endParaRPr lang="en-AU" sz="2400" dirty="0">
              <a:effectLst/>
            </a:endParaRPr>
          </a:p>
          <a:p>
            <a:pPr lvl="0"/>
            <a:r>
              <a:rPr lang="en-IN" sz="2400" dirty="0">
                <a:effectLst/>
              </a:rPr>
              <a:t>High level accuracy.</a:t>
            </a:r>
            <a:endParaRPr lang="en-AU" sz="2400" dirty="0">
              <a:effectLst/>
            </a:endParaRPr>
          </a:p>
          <a:p>
            <a:pPr lvl="0"/>
            <a:r>
              <a:rPr lang="en-IN" sz="2400" dirty="0">
                <a:effectLst/>
              </a:rPr>
              <a:t>The modular nature of Django enables easy updates and maintenance</a:t>
            </a:r>
            <a:endParaRPr lang="en-AU" sz="2400" dirty="0">
              <a:effectLst/>
            </a:endParaRPr>
          </a:p>
        </p:txBody>
      </p:sp>
    </p:spTree>
    <p:extLst>
      <p:ext uri="{BB962C8B-B14F-4D97-AF65-F5344CB8AC3E}">
        <p14:creationId xmlns:p14="http://schemas.microsoft.com/office/powerpoint/2010/main" val="4120971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Scope of the Project</a:t>
            </a:r>
            <a:endParaRPr lang="en-IN" dirty="0"/>
          </a:p>
        </p:txBody>
      </p:sp>
      <p:sp>
        <p:nvSpPr>
          <p:cNvPr id="3" name="Content Placeholder 2"/>
          <p:cNvSpPr>
            <a:spLocks noGrp="1"/>
          </p:cNvSpPr>
          <p:nvPr>
            <p:ph idx="1"/>
          </p:nvPr>
        </p:nvSpPr>
        <p:spPr/>
        <p:txBody>
          <a:bodyPr>
            <a:normAutofit fontScale="92500" lnSpcReduction="20000"/>
          </a:bodyPr>
          <a:lstStyle/>
          <a:p>
            <a:r>
              <a:rPr lang="en-IN" dirty="0">
                <a:effectLst/>
              </a:rPr>
              <a:t>The scope of the project "Encrypting Credit Card Fraud Predictions with Advanced Machine Learning" encompasses developing a comprehensive system that utilizes cutting-edge machine learning techniques to enhance the security and accuracy of credit card fraud detection. </a:t>
            </a:r>
            <a:endParaRPr lang="en-US" dirty="0">
              <a:effectLst/>
            </a:endParaRPr>
          </a:p>
          <a:p>
            <a:r>
              <a:rPr lang="en-IN" dirty="0">
                <a:effectLst/>
              </a:rPr>
              <a:t>This project aims to integrate advanced algorithms, such as Convolutional Neural Networks (CNNs) and ensemble methods, to analyze transaction data and identify fraudulent activities with high precision. </a:t>
            </a:r>
            <a:endParaRPr lang="en-US" dirty="0">
              <a:effectLst/>
            </a:endParaRPr>
          </a:p>
          <a:p>
            <a:r>
              <a:rPr lang="en-IN" dirty="0">
                <a:effectLst/>
              </a:rPr>
              <a:t>The system will incorporate encryption mechanisms to ensure that sensitive financial information is protected throughout the prediction process. Additionally, the project will involve the design and implementation of a secure data pipeline, a user-friendly interface for monitoring and managing fraud predictions, and robust evaluation metrics to assess the effectiveness of the fraud detection models. </a:t>
            </a:r>
            <a:endParaRPr lang="en-US" dirty="0">
              <a:effectLst/>
            </a:endParaRPr>
          </a:p>
          <a:p>
            <a:r>
              <a:rPr lang="en-IN" dirty="0">
                <a:effectLst/>
              </a:rPr>
              <a:t>The ultimate goal is to provide a scalable and reliable solution that can be deployed in real-world scenarios to mitigate the risks associated with credit card fraud, while safeguarding user privacy and data integrity.</a:t>
            </a:r>
            <a:endParaRPr lang="en-AU" dirty="0">
              <a:effectLst/>
            </a:endParaRPr>
          </a:p>
        </p:txBody>
      </p:sp>
    </p:spTree>
    <p:extLst>
      <p:ext uri="{BB962C8B-B14F-4D97-AF65-F5344CB8AC3E}">
        <p14:creationId xmlns:p14="http://schemas.microsoft.com/office/powerpoint/2010/main" val="242556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 OF MODULES</a:t>
            </a:r>
            <a:endParaRPr lang="en-AU" dirty="0"/>
          </a:p>
        </p:txBody>
      </p:sp>
      <p:sp>
        <p:nvSpPr>
          <p:cNvPr id="3" name="Content Placeholder 2"/>
          <p:cNvSpPr>
            <a:spLocks noGrp="1"/>
          </p:cNvSpPr>
          <p:nvPr>
            <p:ph idx="1"/>
          </p:nvPr>
        </p:nvSpPr>
        <p:spPr/>
        <p:txBody>
          <a:bodyPr/>
          <a:lstStyle/>
          <a:p>
            <a:pPr lvl="0"/>
            <a:r>
              <a:rPr lang="en-IN" dirty="0">
                <a:effectLst/>
              </a:rPr>
              <a:t>Data Pre-processing</a:t>
            </a:r>
            <a:endParaRPr lang="en-AU" dirty="0">
              <a:effectLst/>
            </a:endParaRPr>
          </a:p>
          <a:p>
            <a:pPr lvl="0"/>
            <a:r>
              <a:rPr lang="en-IN" dirty="0">
                <a:effectLst/>
              </a:rPr>
              <a:t>Data Analysis of Visualization</a:t>
            </a:r>
            <a:endParaRPr lang="en-AU" dirty="0">
              <a:effectLst/>
            </a:endParaRPr>
          </a:p>
          <a:p>
            <a:pPr lvl="0"/>
            <a:r>
              <a:rPr lang="en-IN" dirty="0">
                <a:effectLst/>
              </a:rPr>
              <a:t>Adaboost classifier algorithm</a:t>
            </a:r>
            <a:endParaRPr lang="en-AU" dirty="0">
              <a:effectLst/>
            </a:endParaRPr>
          </a:p>
          <a:p>
            <a:pPr lvl="0"/>
            <a:r>
              <a:rPr lang="en-IN" dirty="0">
                <a:effectLst/>
              </a:rPr>
              <a:t>Decision Tree algorithm</a:t>
            </a:r>
            <a:endParaRPr lang="en-AU" dirty="0">
              <a:effectLst/>
            </a:endParaRPr>
          </a:p>
          <a:p>
            <a:pPr lvl="0"/>
            <a:r>
              <a:rPr lang="en-IN" dirty="0">
                <a:effectLst/>
              </a:rPr>
              <a:t>K Neighbors Classifier</a:t>
            </a:r>
            <a:endParaRPr lang="en-AU" dirty="0">
              <a:effectLst/>
            </a:endParaRPr>
          </a:p>
          <a:p>
            <a:pPr lvl="0"/>
            <a:r>
              <a:rPr lang="en-IN" dirty="0">
                <a:effectLst/>
              </a:rPr>
              <a:t>Extra Trees classifier</a:t>
            </a:r>
            <a:endParaRPr lang="en-US" dirty="0">
              <a:effectLst/>
            </a:endParaRPr>
          </a:p>
          <a:p>
            <a:pPr lvl="0"/>
            <a:r>
              <a:rPr lang="en-US" dirty="0">
                <a:effectLst/>
              </a:rPr>
              <a:t>Model Building </a:t>
            </a:r>
            <a:endParaRPr lang="en-AU" dirty="0">
              <a:effectLst/>
            </a:endParaRPr>
          </a:p>
          <a:p>
            <a:pPr lvl="0"/>
            <a:r>
              <a:rPr lang="en-IN" dirty="0">
                <a:effectLst/>
              </a:rPr>
              <a:t>Deployment</a:t>
            </a:r>
            <a:endParaRPr lang="en-AU" dirty="0">
              <a:effectLst/>
            </a:endParaRPr>
          </a:p>
        </p:txBody>
      </p:sp>
    </p:spTree>
    <p:extLst>
      <p:ext uri="{BB962C8B-B14F-4D97-AF65-F5344CB8AC3E}">
        <p14:creationId xmlns:p14="http://schemas.microsoft.com/office/powerpoint/2010/main" val="213649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 DESCRIPTION</a:t>
            </a:r>
            <a:endParaRPr lang="en-AU" dirty="0"/>
          </a:p>
        </p:txBody>
      </p:sp>
      <p:sp>
        <p:nvSpPr>
          <p:cNvPr id="3" name="Content Placeholder 2"/>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Data Pre-processing:</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Validation techniques in machine learning are used to get the error rate of the Machine Learning (ML) model, which can be considered as close to the true error rate of the dataset. If the data volume is large enough to be representative of the population, you may not need the validation techniques. </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However, in real-world scenarios, to work with samples of data that may not be a true representative of the population of given dataset. To finding the missing value, duplicate value and description of data type whether it is float variable or integer. The sample of data used to provide an unbiased evaluation of a model fit on the training dataset while tuning model hyper parameters.</a:t>
            </a:r>
            <a:endParaRPr lang="en-AU" dirty="0">
              <a:latin typeface="Times New Roman" panose="02020603050405020304" pitchFamily="18" charset="0"/>
              <a:cs typeface="Times New Roman" panose="02020603050405020304" pitchFamily="18" charset="0"/>
            </a:endParaRPr>
          </a:p>
          <a:p>
            <a:endParaRPr lang="en-AU" dirty="0"/>
          </a:p>
        </p:txBody>
      </p:sp>
    </p:spTree>
    <p:extLst>
      <p:ext uri="{BB962C8B-B14F-4D97-AF65-F5344CB8AC3E}">
        <p14:creationId xmlns:p14="http://schemas.microsoft.com/office/powerpoint/2010/main" val="414440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Exploration data analysis of visualization</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pPr algn="just" fontAlgn="base"/>
            <a:r>
              <a:rPr lang="en-IN" dirty="0">
                <a:latin typeface="Times New Roman" panose="02020603050405020304" pitchFamily="18" charset="0"/>
                <a:cs typeface="Times New Roman" panose="02020603050405020304" pitchFamily="18" charset="0"/>
              </a:rPr>
              <a:t>Data visualization is an important skill in applied statistics and machine learning. Statistics does indeed focus on quantitative descriptions and estimations of data. Data visualization provides an important suite of tools for gaining a qualitative understanding. This can be helpful when exploring and getting to know a dataset and can help with identifying patterns, corrupt data, outliers, and much more. With a little domain knowledge, data visualizations can be used to express and demonstrate key relationships in plots and charts that are more visceral and stakeholders than measures of association or significance. Data visualization and exploratory data analysis are whole fields themselves and it will recommend a deeper dive into some the books mentioned at the end.</a:t>
            </a:r>
          </a:p>
          <a:p>
            <a:pPr algn="just" fontAlgn="base"/>
            <a:r>
              <a:rPr lang="en-IN" dirty="0">
                <a:latin typeface="Times New Roman" panose="02020603050405020304" pitchFamily="18" charset="0"/>
                <a:cs typeface="Times New Roman" panose="02020603050405020304" pitchFamily="18" charset="0"/>
              </a:rPr>
              <a:t>Sometimes data does not make sense until it can look at in a visual form, such as with charts and plots. Being able to quickly visualize of data samples and others is an important skill both in applied statistics and in applied machine learning. It will discover the many types of plots that you will need to know when visualizing data in Python and how to use them to better understand your own data.</a:t>
            </a:r>
          </a:p>
          <a:p>
            <a:pPr lvl="0" algn="just" fontAlgn="base"/>
            <a:r>
              <a:rPr lang="en-IN" dirty="0">
                <a:latin typeface="Times New Roman" panose="02020603050405020304" pitchFamily="18" charset="0"/>
                <a:cs typeface="Times New Roman" panose="02020603050405020304" pitchFamily="18" charset="0"/>
              </a:rPr>
              <a:t>How to chart time series data with line plots and categorical quantities with bar charts.</a:t>
            </a:r>
          </a:p>
          <a:p>
            <a:pPr lvl="0" algn="just" fontAlgn="base"/>
            <a:r>
              <a:rPr lang="en-IN" dirty="0">
                <a:latin typeface="Times New Roman" panose="02020603050405020304" pitchFamily="18" charset="0"/>
                <a:cs typeface="Times New Roman" panose="02020603050405020304" pitchFamily="18" charset="0"/>
              </a:rPr>
              <a:t>How to summarize data distributions with histograms and box plots.</a:t>
            </a:r>
          </a:p>
          <a:p>
            <a:pPr marL="0" indent="0" fontAlgn="base">
              <a:buNone/>
            </a:pPr>
            <a:endParaRPr lang="en-IN" dirty="0"/>
          </a:p>
          <a:p>
            <a:endParaRPr lang="en-IN" dirty="0"/>
          </a:p>
        </p:txBody>
      </p:sp>
    </p:spTree>
    <p:extLst>
      <p:ext uri="{BB962C8B-B14F-4D97-AF65-F5344CB8AC3E}">
        <p14:creationId xmlns:p14="http://schemas.microsoft.com/office/powerpoint/2010/main" val="1365852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ADABOOST CLASSIFIER</a:t>
            </a:r>
            <a:r>
              <a:rPr lang="en-US" b="1" dirty="0">
                <a:effectLst/>
              </a:rPr>
              <a:t> </a:t>
            </a:r>
            <a:br>
              <a:rPr lang="en-AU" dirty="0">
                <a:effectLst/>
              </a:rPr>
            </a:br>
            <a:endParaRPr lang="en-AU" dirty="0"/>
          </a:p>
        </p:txBody>
      </p:sp>
      <p:sp>
        <p:nvSpPr>
          <p:cNvPr id="3" name="Content Placeholder 2"/>
          <p:cNvSpPr>
            <a:spLocks noGrp="1"/>
          </p:cNvSpPr>
          <p:nvPr>
            <p:ph idx="1"/>
          </p:nvPr>
        </p:nvSpPr>
        <p:spPr/>
        <p:txBody>
          <a:bodyPr/>
          <a:lstStyle/>
          <a:p>
            <a:r>
              <a:rPr lang="en-IN" dirty="0">
                <a:effectLst/>
              </a:rPr>
              <a:t>AdaBoost, short for Adaptive Boosting, is an ensemble learning algorithm that is used to boost the performance of weak learners (individual models that perform slightly better than random chance) to create a strong classifier. It was introduced by Yoav Freund and Robert Schapire in 1996.</a:t>
            </a:r>
            <a:endParaRPr lang="en-AU" dirty="0">
              <a:effectLst/>
            </a:endParaRPr>
          </a:p>
          <a:p>
            <a:r>
              <a:rPr lang="en-IN" dirty="0">
                <a:effectLst/>
              </a:rPr>
              <a:t>Key Concepts:</a:t>
            </a:r>
            <a:endParaRPr lang="en-AU" dirty="0">
              <a:effectLst/>
            </a:endParaRPr>
          </a:p>
          <a:p>
            <a:r>
              <a:rPr lang="en-IN" dirty="0">
                <a:effectLst/>
              </a:rPr>
              <a:t>Weak Learners (Base Classifiers): AdaBoost starts with a weak learner, often a simple model like a decision stump (a one-level decision tree). The weak learner's performance is only slightly better than random chance.</a:t>
            </a:r>
            <a:endParaRPr lang="en-AU" dirty="0">
              <a:effectLst/>
            </a:endParaRPr>
          </a:p>
          <a:p>
            <a:r>
              <a:rPr lang="en-IN" dirty="0">
                <a:effectLst/>
              </a:rPr>
              <a:t>Weighted Training Instances: During each iteration, AdaBoost assigns weights to the training instances. Misclassified instances receive higher weights, focusing the subsequent weak learners on the more challenging examples.</a:t>
            </a:r>
            <a:endParaRPr lang="en-AU" dirty="0">
              <a:effectLst/>
            </a:endParaRPr>
          </a:p>
          <a:p>
            <a:endParaRPr lang="en-AU" dirty="0"/>
          </a:p>
        </p:txBody>
      </p:sp>
    </p:spTree>
    <p:extLst>
      <p:ext uri="{BB962C8B-B14F-4D97-AF65-F5344CB8AC3E}">
        <p14:creationId xmlns:p14="http://schemas.microsoft.com/office/powerpoint/2010/main" val="3997898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DECISION TREE CLASSIFIER</a:t>
            </a:r>
            <a:br>
              <a:rPr lang="en-AU" dirty="0">
                <a:effectLst/>
              </a:rPr>
            </a:br>
            <a:endParaRPr lang="en-AU" dirty="0"/>
          </a:p>
        </p:txBody>
      </p:sp>
      <p:sp>
        <p:nvSpPr>
          <p:cNvPr id="3" name="Content Placeholder 2"/>
          <p:cNvSpPr>
            <a:spLocks noGrp="1"/>
          </p:cNvSpPr>
          <p:nvPr>
            <p:ph idx="1"/>
          </p:nvPr>
        </p:nvSpPr>
        <p:spPr/>
        <p:txBody>
          <a:bodyPr>
            <a:normAutofit fontScale="62500" lnSpcReduction="20000"/>
          </a:bodyPr>
          <a:lstStyle/>
          <a:p>
            <a:r>
              <a:rPr lang="en-IN" dirty="0">
                <a:effectLst/>
              </a:rPr>
              <a:t>A Decision Tree is a popular machine learning algorithm used for both classification and regression tasks. It is a tree-like structure where each node represents a decision or a test on an attribute, each branch represents the outcome of the test, and each leaf node represents the final decision or the target variable.</a:t>
            </a:r>
            <a:endParaRPr lang="en-AU" dirty="0">
              <a:effectLst/>
            </a:endParaRPr>
          </a:p>
          <a:p>
            <a:r>
              <a:rPr lang="en-IN" dirty="0">
                <a:effectLst/>
              </a:rPr>
              <a:t>Here's an explanation of how the Decision Tree algorithm works:</a:t>
            </a:r>
            <a:endParaRPr lang="en-AU" dirty="0">
              <a:effectLst/>
            </a:endParaRPr>
          </a:p>
          <a:p>
            <a:r>
              <a:rPr lang="en-IN" dirty="0">
                <a:effectLst/>
              </a:rPr>
              <a:t>Root Node:</a:t>
            </a:r>
            <a:endParaRPr lang="en-AU" dirty="0">
              <a:effectLst/>
            </a:endParaRPr>
          </a:p>
          <a:p>
            <a:r>
              <a:rPr lang="en-IN" dirty="0">
                <a:effectLst/>
              </a:rPr>
              <a:t>The topmost node in the tree is called the root node.</a:t>
            </a:r>
            <a:endParaRPr lang="en-AU" dirty="0">
              <a:effectLst/>
            </a:endParaRPr>
          </a:p>
          <a:p>
            <a:r>
              <a:rPr lang="en-IN" dirty="0">
                <a:effectLst/>
              </a:rPr>
              <a:t>It represents the entire dataset or a subset of it.</a:t>
            </a:r>
            <a:endParaRPr lang="en-AU" dirty="0">
              <a:effectLst/>
            </a:endParaRPr>
          </a:p>
          <a:p>
            <a:r>
              <a:rPr lang="en-IN" dirty="0">
                <a:effectLst/>
              </a:rPr>
              <a:t>Splitting:</a:t>
            </a:r>
            <a:endParaRPr lang="en-AU" dirty="0">
              <a:effectLst/>
            </a:endParaRPr>
          </a:p>
          <a:p>
            <a:r>
              <a:rPr lang="en-IN" dirty="0">
                <a:effectLst/>
              </a:rPr>
              <a:t>The algorithm selects the best feature from the dataset to split the data into subsets.</a:t>
            </a:r>
            <a:endParaRPr lang="en-AU" dirty="0">
              <a:effectLst/>
            </a:endParaRPr>
          </a:p>
          <a:p>
            <a:r>
              <a:rPr lang="en-IN" dirty="0">
                <a:effectLst/>
              </a:rPr>
              <a:t>The feature is chosen based on criteria such as Gini impurity (for classification) or mean squared error (for regression).</a:t>
            </a:r>
            <a:endParaRPr lang="en-AU" dirty="0">
              <a:effectLst/>
            </a:endParaRPr>
          </a:p>
          <a:p>
            <a:r>
              <a:rPr lang="en-IN" dirty="0">
                <a:effectLst/>
              </a:rPr>
              <a:t>Decision Nodes:</a:t>
            </a:r>
            <a:endParaRPr lang="en-AU" dirty="0">
              <a:effectLst/>
            </a:endParaRPr>
          </a:p>
          <a:p>
            <a:r>
              <a:rPr lang="en-IN" dirty="0">
                <a:effectLst/>
              </a:rPr>
              <a:t>Nodes that result from the splitting process are decision nodes.</a:t>
            </a:r>
            <a:endParaRPr lang="en-AU" dirty="0">
              <a:effectLst/>
            </a:endParaRPr>
          </a:p>
          <a:p>
            <a:r>
              <a:rPr lang="en-IN" dirty="0">
                <a:effectLst/>
              </a:rPr>
              <a:t>Each decision node represents a decision based on the chosen feature.</a:t>
            </a:r>
            <a:endParaRPr lang="en-AU" dirty="0">
              <a:effectLst/>
            </a:endParaRPr>
          </a:p>
          <a:p>
            <a:r>
              <a:rPr lang="en-IN" dirty="0">
                <a:effectLst/>
              </a:rPr>
              <a:t>Branches:</a:t>
            </a:r>
            <a:endParaRPr lang="en-AU" dirty="0">
              <a:effectLst/>
            </a:endParaRPr>
          </a:p>
          <a:p>
            <a:r>
              <a:rPr lang="en-IN" dirty="0">
                <a:effectLst/>
              </a:rPr>
              <a:t>The branches represent the possible outcomes or values of the chosen feature.</a:t>
            </a:r>
            <a:endParaRPr lang="en-AU" dirty="0">
              <a:effectLst/>
            </a:endParaRPr>
          </a:p>
          <a:p>
            <a:endParaRPr lang="en-AU" dirty="0"/>
          </a:p>
        </p:txBody>
      </p:sp>
    </p:spTree>
    <p:extLst>
      <p:ext uri="{BB962C8B-B14F-4D97-AF65-F5344CB8AC3E}">
        <p14:creationId xmlns:p14="http://schemas.microsoft.com/office/powerpoint/2010/main" val="3128680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K N NEIBOURS ALGORITHM</a:t>
            </a:r>
            <a:br>
              <a:rPr lang="en-AU" dirty="0">
                <a:effectLst/>
              </a:rPr>
            </a:br>
            <a:endParaRPr lang="en-AU" dirty="0"/>
          </a:p>
        </p:txBody>
      </p:sp>
      <p:sp>
        <p:nvSpPr>
          <p:cNvPr id="3" name="Content Placeholder 2"/>
          <p:cNvSpPr>
            <a:spLocks noGrp="1"/>
          </p:cNvSpPr>
          <p:nvPr>
            <p:ph idx="1"/>
          </p:nvPr>
        </p:nvSpPr>
        <p:spPr/>
        <p:txBody>
          <a:bodyPr/>
          <a:lstStyle/>
          <a:p>
            <a:r>
              <a:rPr lang="en-IN" dirty="0">
                <a:effectLst/>
              </a:rPr>
              <a:t>The K-Nearest Neighbors (KNN) algorithm is a simple, yet powerful machine learning technique used for classification and regression tasks. It operates on the principle of identifying the closest data points (neighbors) to a given query point in a feature space and making predictions based on these neighbors. </a:t>
            </a:r>
            <a:endParaRPr lang="en-US" dirty="0">
              <a:effectLst/>
            </a:endParaRPr>
          </a:p>
          <a:p>
            <a:r>
              <a:rPr lang="en-IN" dirty="0">
                <a:effectLst/>
              </a:rPr>
              <a:t>In classification, the class label of the query point is determined by a majority vote of its K nearest neighbors, while in regression, the prediction is the average of the values of its K nearest neighbors. The choice of K (the number of neighbors) is crucial as it can affect the model's performance.</a:t>
            </a:r>
            <a:endParaRPr lang="en-AU" dirty="0">
              <a:effectLst/>
            </a:endParaRPr>
          </a:p>
          <a:p>
            <a:endParaRPr lang="en-AU" dirty="0"/>
          </a:p>
        </p:txBody>
      </p:sp>
    </p:spTree>
    <p:extLst>
      <p:ext uri="{BB962C8B-B14F-4D97-AF65-F5344CB8AC3E}">
        <p14:creationId xmlns:p14="http://schemas.microsoft.com/office/powerpoint/2010/main" val="4073776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EXTRA TREE CLASSIFIER</a:t>
            </a:r>
            <a:br>
              <a:rPr lang="en-AU" dirty="0">
                <a:effectLst/>
              </a:rPr>
            </a:br>
            <a:endParaRPr lang="en-AU" dirty="0"/>
          </a:p>
        </p:txBody>
      </p:sp>
      <p:sp>
        <p:nvSpPr>
          <p:cNvPr id="3" name="Content Placeholder 2"/>
          <p:cNvSpPr>
            <a:spLocks noGrp="1"/>
          </p:cNvSpPr>
          <p:nvPr>
            <p:ph idx="1"/>
          </p:nvPr>
        </p:nvSpPr>
        <p:spPr/>
        <p:txBody>
          <a:bodyPr/>
          <a:lstStyle/>
          <a:p>
            <a:r>
              <a:rPr lang="en-IN" dirty="0">
                <a:effectLst/>
              </a:rPr>
              <a:t>The Extra Trees Classifier, short for Extremely Randomized Trees Classifier, is a machine learning algorithm that belongs to the ensemble learning family. It builds a collection of decision trees to make predictions and combines their outputs for improved performance. </a:t>
            </a:r>
            <a:endParaRPr lang="en-US" dirty="0">
              <a:effectLst/>
            </a:endParaRPr>
          </a:p>
          <a:p>
            <a:r>
              <a:rPr lang="en-IN" dirty="0">
                <a:effectLst/>
              </a:rPr>
              <a:t>Unlike traditional decision trees, Extra Trees Classifier introduces additional randomness during the construction of the trees.</a:t>
            </a:r>
            <a:endParaRPr lang="en-US" dirty="0">
              <a:effectLst/>
            </a:endParaRPr>
          </a:p>
          <a:p>
            <a:r>
              <a:rPr lang="en-IN" dirty="0">
                <a:effectLst/>
              </a:rPr>
              <a:t> This randomness includes selecting the split points for each feature from a random subset rather than searching for the optimal split, which helps in creating a diverse set of trees. By averaging the results of these trees, the algorithm often achieves better accuracy and generalization compared to individual decision trees.</a:t>
            </a:r>
            <a:endParaRPr lang="en-AU" dirty="0">
              <a:effectLst/>
            </a:endParaRPr>
          </a:p>
          <a:p>
            <a:endParaRPr lang="en-AU" dirty="0"/>
          </a:p>
        </p:txBody>
      </p:sp>
    </p:spTree>
    <p:extLst>
      <p:ext uri="{BB962C8B-B14F-4D97-AF65-F5344CB8AC3E}">
        <p14:creationId xmlns:p14="http://schemas.microsoft.com/office/powerpoint/2010/main" val="716421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Environmental Requirements</a:t>
            </a:r>
            <a:endParaRPr lang="en-AU" b="0" dirty="0"/>
          </a:p>
        </p:txBody>
      </p:sp>
      <p:sp>
        <p:nvSpPr>
          <p:cNvPr id="3" name="Content Placeholder 2"/>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Software Requirements:</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Operating System 	: Windows 10 </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Tool   		: Anaconda with Jupyter Notebook</a:t>
            </a:r>
            <a:endParaRPr lang="en-AU"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Hardware requirements:</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Processor   		: Intel i3</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Hard disk   		: minimum 10 GB</a:t>
            </a:r>
            <a:endParaRPr lang="en-AU"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RAM        		: minimum 4 GB</a:t>
            </a:r>
            <a:endParaRPr lang="en-AU" dirty="0">
              <a:latin typeface="Times New Roman" panose="02020603050405020304" pitchFamily="18" charset="0"/>
              <a:cs typeface="Times New Roman" panose="02020603050405020304" pitchFamily="18" charset="0"/>
            </a:endParaRPr>
          </a:p>
          <a:p>
            <a:endParaRPr lang="en-AU" dirty="0"/>
          </a:p>
        </p:txBody>
      </p:sp>
    </p:spTree>
    <p:extLst>
      <p:ext uri="{BB962C8B-B14F-4D97-AF65-F5344CB8AC3E}">
        <p14:creationId xmlns:p14="http://schemas.microsoft.com/office/powerpoint/2010/main" val="1851873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Architecture</a:t>
            </a:r>
            <a:endParaRPr lang="en-AU" dirty="0"/>
          </a:p>
        </p:txBody>
      </p:sp>
      <p:pic>
        <p:nvPicPr>
          <p:cNvPr id="4" name="Picture 3" descr="C:\Users\SPIRO25\Downloads\credit.png"/>
          <p:cNvPicPr/>
          <p:nvPr/>
        </p:nvPicPr>
        <p:blipFill>
          <a:blip r:embed="rId2">
            <a:extLst>
              <a:ext uri="{28A0092B-C50C-407E-A947-70E740481C1C}">
                <a14:useLocalDpi xmlns:a14="http://schemas.microsoft.com/office/drawing/2010/main" val="0"/>
              </a:ext>
            </a:extLst>
          </a:blip>
          <a:srcRect/>
          <a:stretch>
            <a:fillRect/>
          </a:stretch>
        </p:blipFill>
        <p:spPr bwMode="auto">
          <a:xfrm>
            <a:off x="3230245" y="1580050"/>
            <a:ext cx="5731510" cy="5026490"/>
          </a:xfrm>
          <a:prstGeom prst="rect">
            <a:avLst/>
          </a:prstGeom>
          <a:noFill/>
          <a:ln>
            <a:noFill/>
          </a:ln>
        </p:spPr>
      </p:pic>
    </p:spTree>
    <p:extLst>
      <p:ext uri="{BB962C8B-B14F-4D97-AF65-F5344CB8AC3E}">
        <p14:creationId xmlns:p14="http://schemas.microsoft.com/office/powerpoint/2010/main" val="995187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endParaRPr lang="en-IN" dirty="0"/>
          </a:p>
        </p:txBody>
      </p:sp>
      <p:pic>
        <p:nvPicPr>
          <p:cNvPr id="6" name="Picture 5"/>
          <p:cNvPicPr/>
          <p:nvPr/>
        </p:nvPicPr>
        <p:blipFill>
          <a:blip r:embed="rId2"/>
          <a:stretch>
            <a:fillRect/>
          </a:stretch>
        </p:blipFill>
        <p:spPr>
          <a:xfrm>
            <a:off x="3436693" y="1981200"/>
            <a:ext cx="5307965" cy="3810000"/>
          </a:xfrm>
          <a:prstGeom prst="rect">
            <a:avLst/>
          </a:prstGeom>
        </p:spPr>
      </p:pic>
    </p:spTree>
    <p:extLst>
      <p:ext uri="{BB962C8B-B14F-4D97-AF65-F5344CB8AC3E}">
        <p14:creationId xmlns:p14="http://schemas.microsoft.com/office/powerpoint/2010/main" val="2788904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 Diagram</a:t>
            </a:r>
            <a:endParaRPr lang="en-AU" dirty="0"/>
          </a:p>
        </p:txBody>
      </p:sp>
      <p:pic>
        <p:nvPicPr>
          <p:cNvPr id="4" name="Picture 3"/>
          <p:cNvPicPr/>
          <p:nvPr/>
        </p:nvPicPr>
        <p:blipFill>
          <a:blip r:embed="rId2"/>
          <a:stretch>
            <a:fillRect/>
          </a:stretch>
        </p:blipFill>
        <p:spPr>
          <a:xfrm>
            <a:off x="3258576" y="1952625"/>
            <a:ext cx="5664200" cy="3867150"/>
          </a:xfrm>
          <a:prstGeom prst="rect">
            <a:avLst/>
          </a:prstGeom>
        </p:spPr>
      </p:pic>
    </p:spTree>
    <p:extLst>
      <p:ext uri="{BB962C8B-B14F-4D97-AF65-F5344CB8AC3E}">
        <p14:creationId xmlns:p14="http://schemas.microsoft.com/office/powerpoint/2010/main" val="3960046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SCREEN SHOTS</a:t>
            </a:r>
            <a:br>
              <a:rPr lang="en-US" dirty="0"/>
            </a:br>
            <a:r>
              <a:rPr lang="en-US" sz="2200" dirty="0"/>
              <a:t>LANDING PAGE</a:t>
            </a:r>
            <a:endParaRPr lang="en-IN" dirty="0"/>
          </a:p>
        </p:txBody>
      </p:sp>
      <p:pic>
        <p:nvPicPr>
          <p:cNvPr id="4" name="Content Placeholder 3"/>
          <p:cNvPicPr>
            <a:picLocks noGrp="1"/>
          </p:cNvPicPr>
          <p:nvPr>
            <p:ph idx="1"/>
          </p:nvPr>
        </p:nvPicPr>
        <p:blipFill>
          <a:blip r:embed="rId2"/>
          <a:stretch>
            <a:fillRect/>
          </a:stretch>
        </p:blipFill>
        <p:spPr>
          <a:xfrm>
            <a:off x="1980291" y="1731963"/>
            <a:ext cx="8221893" cy="4059237"/>
          </a:xfrm>
          <a:prstGeom prst="rect">
            <a:avLst/>
          </a:prstGeom>
        </p:spPr>
      </p:pic>
    </p:spTree>
    <p:extLst>
      <p:ext uri="{BB962C8B-B14F-4D97-AF65-F5344CB8AC3E}">
        <p14:creationId xmlns:p14="http://schemas.microsoft.com/office/powerpoint/2010/main" val="2683151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Register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3264269" y="1731963"/>
            <a:ext cx="5653937" cy="4059237"/>
          </a:xfrm>
          <a:prstGeom prst="rect">
            <a:avLst/>
          </a:prstGeom>
        </p:spPr>
      </p:pic>
    </p:spTree>
    <p:extLst>
      <p:ext uri="{BB962C8B-B14F-4D97-AF65-F5344CB8AC3E}">
        <p14:creationId xmlns:p14="http://schemas.microsoft.com/office/powerpoint/2010/main" val="458820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Login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2795127" y="1837263"/>
            <a:ext cx="6592220" cy="3848637"/>
          </a:xfrm>
          <a:prstGeom prst="rect">
            <a:avLst/>
          </a:prstGeom>
        </p:spPr>
      </p:pic>
    </p:spTree>
    <p:extLst>
      <p:ext uri="{BB962C8B-B14F-4D97-AF65-F5344CB8AC3E}">
        <p14:creationId xmlns:p14="http://schemas.microsoft.com/office/powerpoint/2010/main" val="233394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Home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1775769" y="1731963"/>
            <a:ext cx="8630936" cy="4059237"/>
          </a:xfrm>
          <a:prstGeom prst="rect">
            <a:avLst/>
          </a:prstGeom>
        </p:spPr>
      </p:pic>
    </p:spTree>
    <p:extLst>
      <p:ext uri="{BB962C8B-B14F-4D97-AF65-F5344CB8AC3E}">
        <p14:creationId xmlns:p14="http://schemas.microsoft.com/office/powerpoint/2010/main" val="1758663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Profile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2064115" y="1731963"/>
            <a:ext cx="8054245" cy="4059237"/>
          </a:xfrm>
          <a:prstGeom prst="rect">
            <a:avLst/>
          </a:prstGeom>
        </p:spPr>
      </p:pic>
    </p:spTree>
    <p:extLst>
      <p:ext uri="{BB962C8B-B14F-4D97-AF65-F5344CB8AC3E}">
        <p14:creationId xmlns:p14="http://schemas.microsoft.com/office/powerpoint/2010/main" val="2958855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Customer Input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3305360" y="1731963"/>
            <a:ext cx="5571755" cy="4059237"/>
          </a:xfrm>
          <a:prstGeom prst="rect">
            <a:avLst/>
          </a:prstGeom>
        </p:spPr>
      </p:pic>
    </p:spTree>
    <p:extLst>
      <p:ext uri="{BB962C8B-B14F-4D97-AF65-F5344CB8AC3E}">
        <p14:creationId xmlns:p14="http://schemas.microsoft.com/office/powerpoint/2010/main" val="4251030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Output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1930520" y="1731963"/>
            <a:ext cx="8321435" cy="4059237"/>
          </a:xfrm>
          <a:prstGeom prst="rect">
            <a:avLst/>
          </a:prstGeom>
        </p:spPr>
      </p:pic>
    </p:spTree>
    <p:extLst>
      <p:ext uri="{BB962C8B-B14F-4D97-AF65-F5344CB8AC3E}">
        <p14:creationId xmlns:p14="http://schemas.microsoft.com/office/powerpoint/2010/main" val="3859201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Database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1841826" y="1731963"/>
            <a:ext cx="8498822" cy="4059237"/>
          </a:xfrm>
          <a:prstGeom prst="rect">
            <a:avLst/>
          </a:prstGeom>
        </p:spPr>
      </p:pic>
    </p:spTree>
    <p:extLst>
      <p:ext uri="{BB962C8B-B14F-4D97-AF65-F5344CB8AC3E}">
        <p14:creationId xmlns:p14="http://schemas.microsoft.com/office/powerpoint/2010/main" val="2330083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Credit Card Input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4068209" y="1731963"/>
            <a:ext cx="4046057" cy="4059237"/>
          </a:xfrm>
          <a:prstGeom prst="rect">
            <a:avLst/>
          </a:prstGeom>
        </p:spPr>
      </p:pic>
    </p:spTree>
    <p:extLst>
      <p:ext uri="{BB962C8B-B14F-4D97-AF65-F5344CB8AC3E}">
        <p14:creationId xmlns:p14="http://schemas.microsoft.com/office/powerpoint/2010/main" val="4125032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effectLst/>
              </a:rPr>
              <a:t>Output Page</a:t>
            </a:r>
            <a:br>
              <a:rPr lang="en-IN" dirty="0">
                <a:effectLst/>
              </a:rPr>
            </a:br>
            <a:endParaRPr lang="en-IN" dirty="0"/>
          </a:p>
        </p:txBody>
      </p:sp>
      <p:pic>
        <p:nvPicPr>
          <p:cNvPr id="4" name="Content Placeholder 3"/>
          <p:cNvPicPr>
            <a:picLocks noGrp="1"/>
          </p:cNvPicPr>
          <p:nvPr>
            <p:ph idx="1"/>
          </p:nvPr>
        </p:nvPicPr>
        <p:blipFill>
          <a:blip r:embed="rId2"/>
          <a:stretch>
            <a:fillRect/>
          </a:stretch>
        </p:blipFill>
        <p:spPr>
          <a:xfrm>
            <a:off x="2076690" y="1731963"/>
            <a:ext cx="8029095" cy="4059237"/>
          </a:xfrm>
          <a:prstGeom prst="rect">
            <a:avLst/>
          </a:prstGeom>
        </p:spPr>
      </p:pic>
    </p:spTree>
    <p:extLst>
      <p:ext uri="{BB962C8B-B14F-4D97-AF65-F5344CB8AC3E}">
        <p14:creationId xmlns:p14="http://schemas.microsoft.com/office/powerpoint/2010/main" val="969563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endParaRPr lang="en-AU" dirty="0"/>
          </a:p>
        </p:txBody>
      </p:sp>
      <p:sp>
        <p:nvSpPr>
          <p:cNvPr id="3" name="Content Placeholder 2"/>
          <p:cNvSpPr>
            <a:spLocks noGrp="1"/>
          </p:cNvSpPr>
          <p:nvPr>
            <p:ph idx="1"/>
          </p:nvPr>
        </p:nvSpPr>
        <p:spPr/>
        <p:txBody>
          <a:bodyPr>
            <a:normAutofit/>
          </a:bodyPr>
          <a:lstStyle/>
          <a:p>
            <a:r>
              <a:rPr lang="en-US" dirty="0">
                <a:effectLst/>
              </a:rPr>
              <a:t>In conclusion, encrypting credit card fraud predictions with advanced machine learning techniques represents a significant advancement in financial security. By leveraging sophisticated algorithms and encryption methods, we can enhance the accuracy and confidentiality of fraud detection systems. </a:t>
            </a:r>
          </a:p>
          <a:p>
            <a:r>
              <a:rPr lang="en-US" dirty="0">
                <a:effectLst/>
              </a:rPr>
              <a:t>Machine learning models, such as those based on deep learning and ensemble methods, can effectively identify and prevent fraudulent transactions by analyzing vast amounts of transaction data and detecting anomalous patterns. Incorporating encryption ensures that sensitive information remains protected throughout the analysis process, safeguarding against potential breaches. </a:t>
            </a:r>
          </a:p>
          <a:p>
            <a:r>
              <a:rPr lang="en-US" dirty="0">
                <a:effectLst/>
              </a:rPr>
              <a:t>Overall, this approach not only improves the reliability of fraud detection but also builds trust among users by maintaining the highest standards of data security.</a:t>
            </a:r>
            <a:endParaRPr lang="en-AU" dirty="0">
              <a:effectLst/>
            </a:endParaRPr>
          </a:p>
        </p:txBody>
      </p:sp>
    </p:spTree>
    <p:extLst>
      <p:ext uri="{BB962C8B-B14F-4D97-AF65-F5344CB8AC3E}">
        <p14:creationId xmlns:p14="http://schemas.microsoft.com/office/powerpoint/2010/main" val="2179289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Future Work</a:t>
            </a:r>
            <a:endParaRPr lang="en-AU" dirty="0"/>
          </a:p>
        </p:txBody>
      </p:sp>
      <p:sp>
        <p:nvSpPr>
          <p:cNvPr id="3" name="Content Placeholder 2"/>
          <p:cNvSpPr>
            <a:spLocks noGrp="1"/>
          </p:cNvSpPr>
          <p:nvPr>
            <p:ph idx="1"/>
          </p:nvPr>
        </p:nvSpPr>
        <p:spPr/>
        <p:txBody>
          <a:bodyPr/>
          <a:lstStyle/>
          <a:p>
            <a:pPr lvl="0"/>
            <a:r>
              <a:rPr lang="en-IN" dirty="0">
                <a:effectLst/>
              </a:rPr>
              <a:t>Prediction methods to connect with cloud model.</a:t>
            </a:r>
            <a:endParaRPr lang="en-AU" dirty="0">
              <a:effectLst/>
            </a:endParaRPr>
          </a:p>
          <a:p>
            <a:pPr lvl="0"/>
            <a:r>
              <a:rPr lang="en-IN" dirty="0">
                <a:effectLst/>
              </a:rPr>
              <a:t>To optimize the work to implement in IOT System.</a:t>
            </a:r>
            <a:endParaRPr lang="en-AU" dirty="0">
              <a:effectLst/>
            </a:endParaRPr>
          </a:p>
        </p:txBody>
      </p:sp>
    </p:spTree>
    <p:extLst>
      <p:ext uri="{BB962C8B-B14F-4D97-AF65-F5344CB8AC3E}">
        <p14:creationId xmlns:p14="http://schemas.microsoft.com/office/powerpoint/2010/main" val="1303445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274</TotalTime>
  <Words>2103</Words>
  <Application>Microsoft Office PowerPoint</Application>
  <PresentationFormat>Widescreen</PresentationFormat>
  <Paragraphs>110</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Slate</vt:lpstr>
      <vt:lpstr>ENCRYPTING CREDIT CARD FRAUD  AND CUSTOMER ACTIVATION PREDICTION WITH MACHINE LEARNING </vt:lpstr>
      <vt:lpstr>Abstract</vt:lpstr>
      <vt:lpstr>Existing System</vt:lpstr>
      <vt:lpstr>DEMERITS</vt:lpstr>
      <vt:lpstr>Proposed System</vt:lpstr>
      <vt:lpstr>Advantages</vt:lpstr>
      <vt:lpstr>Scope of the Project</vt:lpstr>
      <vt:lpstr>LIST OF MODULES</vt:lpstr>
      <vt:lpstr>MODULE DESCRIPTION</vt:lpstr>
      <vt:lpstr>Exploration data analysis of visualization </vt:lpstr>
      <vt:lpstr>ADABOOST CLASSIFIER  </vt:lpstr>
      <vt:lpstr>DECISION TREE CLASSIFIER </vt:lpstr>
      <vt:lpstr>K N NEIBOURS ALGORITHM </vt:lpstr>
      <vt:lpstr>EXTRA TREE CLASSIFIER </vt:lpstr>
      <vt:lpstr>Environmental Requirements</vt:lpstr>
      <vt:lpstr>System Architecture</vt:lpstr>
      <vt:lpstr>CLASS DIAGRAMS</vt:lpstr>
      <vt:lpstr>Use Case Diagram</vt:lpstr>
      <vt:lpstr>SCREEN SHOTS LANDING PAGE</vt:lpstr>
      <vt:lpstr>Register Page </vt:lpstr>
      <vt:lpstr>Login Page </vt:lpstr>
      <vt:lpstr>Home Page </vt:lpstr>
      <vt:lpstr>Profile Page </vt:lpstr>
      <vt:lpstr>Customer Input Page </vt:lpstr>
      <vt:lpstr>Output Page </vt:lpstr>
      <vt:lpstr>Database Page </vt:lpstr>
      <vt:lpstr>Credit Card Input Page </vt:lpstr>
      <vt:lpstr>Output Page </vt:lpstr>
      <vt:lpstr>Conclusion</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SPIRO25</dc:creator>
  <cp:lastModifiedBy>jayakanthan14072003@gmail.com</cp:lastModifiedBy>
  <cp:revision>47</cp:revision>
  <dcterms:created xsi:type="dcterms:W3CDTF">2022-11-07T10:31:19Z</dcterms:created>
  <dcterms:modified xsi:type="dcterms:W3CDTF">2025-04-01T14:40:24Z</dcterms:modified>
</cp:coreProperties>
</file>